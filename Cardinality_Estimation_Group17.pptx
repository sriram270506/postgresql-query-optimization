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090910f5-a780-d74a-a334-a2d969cdcffb}">
          <p14:sldIdLst>
            <p14:sldId id="256"/>
          </p14:sldIdLst>
        </p14:section>
        <p14:section name="Problem and solution" id="{a2a71e1e-f49b-d7a1-be2d-416066f55f38}">
          <p14:sldIdLst>
            <p14:sldId id="257"/>
          </p14:sldIdLst>
        </p14:section>
        <p14:section name="Pipeline" id="{a822b442-5059-19c5-6143-773151fe9bc7}">
          <p14:sldIdLst>
            <p14:sldId id="258"/>
          </p14:sldIdLst>
        </p14:section>
        <p14:section name="Probability" id="{ec6bbb57-5bce-1a1c-afcf-849bf13c33d0}">
          <p14:sldIdLst>
            <p14:sldId id="259"/>
          </p14:sldIdLst>
        </p14:section>
        <p14:section name="TreeLSTM" id="{6edc0c6a-0fc1-a76b-a39c-e477390d6794}">
          <p14:sldIdLst>
            <p14:sldId id="260"/>
          </p14:sldIdLst>
        </p14:section>
        <p14:section name="MLP" id="{afb62308-4f11-141b-f21e-8f8805e0c00d}">
          <p14:sldIdLst>
            <p14:sldId id="261"/>
          </p14:sldIdLst>
        </p14:section>
        <p14:section name="Under the hood" id="{3af6aa56-458d-d2f5-4a62-15d5f910b692}">
          <p14:sldIdLst>
            <p14:sldId id="262"/>
          </p14:sldIdLst>
        </p14:section>
        <p14:section name="Results" id="{a0e55b48-fef4-f4f9-d455-9f78b30c08af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1A1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1A1D"/>
                </a:solidFill>
                <a:latin typeface="+mn-lt"/>
              </a:rPr>
              <a:t>p99 Q-error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p99 Q-error</c:v>
                </c:pt>
              </c:strCache>
            </c:strRef>
          </c:tx>
          <c:spPr>
            <a:solidFill>
              <a:srgbClr val="3D72B0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1A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72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08C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9C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1E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PostgreSQL</c:v>
                  </c:pt>
                  <c:pt idx="1">
                    <c:v>FactorJoin</c:v>
                  </c:pt>
                  <c:pt idx="2">
                    <c:v>Fusion MLP</c:v>
                  </c:pt>
                  <c:pt idx="3">
                    <c:v>TreeLSTM + MLP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22.76</c:v>
                </c:pt>
                <c:pt idx="1">
                  <c:v>5.29</c:v>
                </c:pt>
                <c:pt idx="2">
                  <c:v>4.76</c:v>
                </c:pt>
                <c:pt idx="3">
                  <c:v>4.88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61A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D717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F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D717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8A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7174"/>
                </a:solidFill>
              </a:rPr>
              <a:t>AIE-A · Group 17 · Learned cardinality estimation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1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1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QUERY OPTIMIZATION</a:t>
            </a:r>
            <a:endParaRPr lang="en-US" sz="1400" dirty="0"/>
          </a:p>
        </p:txBody>
      </p:sp>
      <p:sp>
        <p:nvSpPr>
          <p:cNvPr id="3" name="text_2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rows before reading them</a:t>
            </a:r>
            <a:endParaRPr lang="en-US" sz="4400" dirty="0"/>
          </a:p>
        </p:txBody>
      </p:sp>
      <p:sp>
        <p:nvSpPr>
          <p:cNvPr id="4" name="text_3"/>
          <p:cNvSpPr txBox="1"/>
          <p:nvPr/>
        </p:nvSpPr>
        <p:spPr>
          <a:xfrm>
            <a:off x="731520" y="2514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estimation with Bayesian networks, FactorJoin and a TreeLSTM + MLP, on our own SQL engine</a:t>
            </a:r>
            <a:endParaRPr lang="en-US" sz="1800" dirty="0"/>
          </a:p>
        </p:txBody>
      </p:sp>
      <p:sp>
        <p:nvSpPr>
          <p:cNvPr id="5" name="team_card"/>
          <p:cNvSpPr/>
          <p:nvPr/>
        </p:nvSpPr>
        <p:spPr>
          <a:xfrm>
            <a:off x="731520" y="3840480"/>
            <a:ext cx="676656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_4"/>
          <p:cNvSpPr txBox="1"/>
          <p:nvPr/>
        </p:nvSpPr>
        <p:spPr>
          <a:xfrm>
            <a:off x="1005840" y="40690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 - A GROUP 17</a:t>
            </a:r>
            <a:endParaRPr lang="en-US" sz="2000" dirty="0"/>
          </a:p>
        </p:txBody>
      </p:sp>
      <p:sp>
        <p:nvSpPr>
          <p:cNvPr id="7" name="text_5"/>
          <p:cNvSpPr txBox="1"/>
          <p:nvPr/>
        </p:nvSpPr>
        <p:spPr>
          <a:xfrm>
            <a:off x="1005840" y="4572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400" dirty="0"/>
          </a:p>
        </p:txBody>
      </p:sp>
      <p:sp>
        <p:nvSpPr>
          <p:cNvPr id="8" name="text_6"/>
          <p:cNvSpPr txBox="1"/>
          <p:nvPr/>
        </p:nvSpPr>
        <p:spPr>
          <a:xfrm>
            <a:off x="1005840" y="4956048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BHUVANESWARAN S - CB.SC.U4AIE24012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SRIRAM S - CB.SC.U4AIE24066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what we propose</a:t>
            </a:r>
            <a:endParaRPr lang="en-US" sz="3200" dirty="0"/>
          </a:p>
        </p:txBody>
      </p:sp>
      <p:sp>
        <p:nvSpPr>
          <p:cNvPr id="3" name="card_7"/>
          <p:cNvSpPr/>
          <p:nvPr/>
        </p:nvSpPr>
        <p:spPr>
          <a:xfrm>
            <a:off x="548640" y="1325880"/>
            <a:ext cx="5120640" cy="4800600"/>
          </a:xfrm>
          <a:prstGeom prst="roundRect">
            <a:avLst>
              <a:gd name="adj" fmla="val 2286"/>
            </a:avLst>
          </a:prstGeom>
          <a:solidFill>
            <a:srgbClr val="FDF3F2"/>
          </a:solidFill>
          <a:ln/>
        </p:spPr>
      </p:sp>
      <p:sp>
        <p:nvSpPr>
          <p:cNvPr id="4" name="text_8"/>
          <p:cNvSpPr txBox="1"/>
          <p:nvPr/>
        </p:nvSpPr>
        <p:spPr>
          <a:xfrm>
            <a:off x="8686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text_9"/>
          <p:cNvSpPr txBox="1"/>
          <p:nvPr/>
        </p:nvSpPr>
        <p:spPr>
          <a:xfrm>
            <a:off x="868680" y="18745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running a query, the database must guess how many rows each step returns. That guess picks the join order.</a:t>
            </a:r>
            <a:endParaRPr lang="en-US" sz="1600" dirty="0"/>
          </a:p>
        </p:txBody>
      </p:sp>
      <p:sp>
        <p:nvSpPr>
          <p:cNvPr id="6" name="text_10"/>
          <p:cNvSpPr txBox="1"/>
          <p:nvPr/>
        </p:nvSpPr>
        <p:spPr>
          <a:xfrm>
            <a:off x="868680" y="28803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assumes columns are independent. Real data is not:</a:t>
            </a:r>
            <a:endParaRPr lang="en-US" sz="1500" dirty="0"/>
          </a:p>
        </p:txBody>
      </p:sp>
      <p:sp>
        <p:nvSpPr>
          <p:cNvPr id="7" name="text_11"/>
          <p:cNvSpPr txBox="1"/>
          <p:nvPr/>
        </p:nvSpPr>
        <p:spPr>
          <a:xfrm>
            <a:off x="868680" y="3520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AND Bangalore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738 rows · PostgreSQL guesses 240</a:t>
            </a:r>
            <a:endParaRPr lang="en-US" sz="1500" dirty="0"/>
          </a:p>
        </p:txBody>
      </p:sp>
      <p:sp>
        <p:nvSpPr>
          <p:cNvPr id="8" name="text_12"/>
          <p:cNvSpPr txBox="1"/>
          <p:nvPr/>
        </p:nvSpPr>
        <p:spPr>
          <a:xfrm>
            <a:off x="868680" y="4343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59,392×</a:t>
            </a:r>
            <a:endParaRPr lang="en-US" sz="5400" dirty="0"/>
          </a:p>
        </p:txBody>
      </p:sp>
      <p:sp>
        <p:nvSpPr>
          <p:cNvPr id="9" name="text_13"/>
          <p:cNvSpPr txBox="1"/>
          <p:nvPr/>
        </p:nvSpPr>
        <p:spPr>
          <a:xfrm>
            <a:off x="868680" y="5257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PostgreSQL’s worst miss on our test queries</a:t>
            </a:r>
            <a:endParaRPr lang="en-US" sz="1300" dirty="0"/>
          </a:p>
        </p:txBody>
      </p:sp>
      <p:sp>
        <p:nvSpPr>
          <p:cNvPr id="10" name="text_14"/>
          <p:cNvSpPr txBox="1"/>
          <p:nvPr/>
        </p:nvSpPr>
        <p:spPr>
          <a:xfrm>
            <a:off x="61722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11" name="num_15"/>
          <p:cNvSpPr/>
          <p:nvPr/>
        </p:nvSpPr>
        <p:spPr>
          <a:xfrm>
            <a:off x="6172200" y="1965960"/>
            <a:ext cx="457200" cy="457200"/>
          </a:xfrm>
          <a:prstGeom prst="ellipse">
            <a:avLst/>
          </a:prstGeom>
          <a:solidFill>
            <a:srgbClr val="8A1538"/>
          </a:solidFill>
          <a:ln/>
        </p:spPr>
      </p:sp>
      <p:sp>
        <p:nvSpPr>
          <p:cNvPr id="12" name="text_16"/>
          <p:cNvSpPr txBox="1"/>
          <p:nvPr/>
        </p:nvSpPr>
        <p:spPr>
          <a:xfrm>
            <a:off x="6172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_17"/>
          <p:cNvSpPr txBox="1"/>
          <p:nvPr/>
        </p:nvSpPr>
        <p:spPr>
          <a:xfrm>
            <a:off x="6812280" y="1947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which columns move together</a:t>
            </a:r>
            <a:endParaRPr lang="en-US" sz="1700" dirty="0"/>
          </a:p>
        </p:txBody>
      </p:sp>
      <p:sp>
        <p:nvSpPr>
          <p:cNvPr id="14" name="text_18"/>
          <p:cNvSpPr txBox="1"/>
          <p:nvPr/>
        </p:nvSpPr>
        <p:spPr>
          <a:xfrm>
            <a:off x="6812280" y="2350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 per table</a:t>
            </a:r>
            <a:endParaRPr lang="en-US" sz="1400" dirty="0"/>
          </a:p>
        </p:txBody>
      </p:sp>
      <p:sp>
        <p:nvSpPr>
          <p:cNvPr id="15" name="num_19"/>
          <p:cNvSpPr/>
          <p:nvPr/>
        </p:nvSpPr>
        <p:spPr>
          <a:xfrm>
            <a:off x="6172200" y="3108960"/>
            <a:ext cx="457200" cy="457200"/>
          </a:xfrm>
          <a:prstGeom prst="ellipse">
            <a:avLst/>
          </a:prstGeom>
          <a:solidFill>
            <a:srgbClr val="8A1538"/>
          </a:solidFill>
          <a:ln/>
        </p:spPr>
      </p:sp>
      <p:sp>
        <p:nvSpPr>
          <p:cNvPr id="16" name="text_20"/>
          <p:cNvSpPr txBox="1"/>
          <p:nvPr/>
        </p:nvSpPr>
        <p:spPr>
          <a:xfrm>
            <a:off x="6172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_21"/>
          <p:cNvSpPr txBox="1"/>
          <p:nvPr/>
        </p:nvSpPr>
        <p:spPr>
          <a:xfrm>
            <a:off x="6812280" y="3090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tables through their join keys</a:t>
            </a:r>
            <a:endParaRPr lang="en-US" sz="1700" dirty="0"/>
          </a:p>
        </p:txBody>
      </p:sp>
      <p:sp>
        <p:nvSpPr>
          <p:cNvPr id="18" name="text_22"/>
          <p:cNvSpPr txBox="1"/>
          <p:nvPr/>
        </p:nvSpPr>
        <p:spPr>
          <a:xfrm>
            <a:off x="6812280" y="3493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FactorJoin</a:t>
            </a:r>
            <a:endParaRPr lang="en-US" sz="1400" dirty="0"/>
          </a:p>
        </p:txBody>
      </p:sp>
      <p:sp>
        <p:nvSpPr>
          <p:cNvPr id="19" name="num_23"/>
          <p:cNvSpPr/>
          <p:nvPr/>
        </p:nvSpPr>
        <p:spPr>
          <a:xfrm>
            <a:off x="6172200" y="4251960"/>
            <a:ext cx="457200" cy="457200"/>
          </a:xfrm>
          <a:prstGeom prst="ellipse">
            <a:avLst/>
          </a:prstGeom>
          <a:solidFill>
            <a:srgbClr val="8A1538"/>
          </a:solidFill>
          <a:ln/>
        </p:spPr>
      </p:sp>
      <p:sp>
        <p:nvSpPr>
          <p:cNvPr id="20" name="text_24"/>
          <p:cNvSpPr txBox="1"/>
          <p:nvPr/>
        </p:nvSpPr>
        <p:spPr>
          <a:xfrm>
            <a:off x="61722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_25"/>
          <p:cNvSpPr txBox="1"/>
          <p:nvPr/>
        </p:nvSpPr>
        <p:spPr>
          <a:xfrm>
            <a:off x="6812280" y="4233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neural network fix what is left</a:t>
            </a:r>
            <a:endParaRPr lang="en-US" sz="1700" dirty="0"/>
          </a:p>
        </p:txBody>
      </p:sp>
      <p:sp>
        <p:nvSpPr>
          <p:cNvPr id="22" name="text_26"/>
          <p:cNvSpPr txBox="1"/>
          <p:nvPr/>
        </p:nvSpPr>
        <p:spPr>
          <a:xfrm>
            <a:off x="6812280" y="4636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TreeLSTM reads the query · MLP corrects the count</a:t>
            </a:r>
            <a:endParaRPr lang="en-US" sz="1400" dirty="0"/>
          </a:p>
        </p:txBody>
      </p:sp>
      <p:sp>
        <p:nvSpPr>
          <p:cNvPr id="23" name="card_27"/>
          <p:cNvSpPr/>
          <p:nvPr/>
        </p:nvSpPr>
        <p:spPr>
          <a:xfrm>
            <a:off x="6172200" y="544068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F8EFF2"/>
          </a:solidFill>
          <a:ln/>
        </p:spPr>
      </p:sp>
      <p:sp>
        <p:nvSpPr>
          <p:cNvPr id="24" name="text_28"/>
          <p:cNvSpPr txBox="1"/>
          <p:nvPr/>
        </p:nvSpPr>
        <p:spPr>
          <a:xfrm>
            <a:off x="6400800" y="5577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5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error 22.8× → 4.88×, worst 59,392× → 41.8×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1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pipeline</a:t>
            </a:r>
            <a:endParaRPr lang="en-US" sz="3200" dirty="0"/>
          </a:p>
        </p:txBody>
      </p:sp>
      <p:sp>
        <p:nvSpPr>
          <p:cNvPr id="3" name="card_29"/>
          <p:cNvSpPr/>
          <p:nvPr/>
        </p:nvSpPr>
        <p:spPr>
          <a:xfrm>
            <a:off x="548640" y="1600200"/>
            <a:ext cx="1444752" cy="1417320"/>
          </a:xfrm>
          <a:prstGeom prst="roundRect">
            <a:avLst>
              <a:gd name="adj" fmla="val 7742"/>
            </a:avLst>
          </a:prstGeom>
          <a:solidFill>
            <a:srgbClr val="F8EFF2"/>
          </a:solidFill>
          <a:ln/>
        </p:spPr>
      </p:sp>
      <p:sp>
        <p:nvSpPr>
          <p:cNvPr id="4" name="text_30"/>
          <p:cNvSpPr txBox="1"/>
          <p:nvPr/>
        </p:nvSpPr>
        <p:spPr>
          <a:xfrm>
            <a:off x="658368" y="17830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500" dirty="0"/>
          </a:p>
        </p:txBody>
      </p:sp>
      <p:sp>
        <p:nvSpPr>
          <p:cNvPr id="5" name="text_31"/>
          <p:cNvSpPr txBox="1"/>
          <p:nvPr/>
        </p:nvSpPr>
        <p:spPr>
          <a:xfrm>
            <a:off x="658368" y="22585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by the user</a:t>
            </a:r>
            <a:endParaRPr lang="en-US" sz="1200" dirty="0"/>
          </a:p>
        </p:txBody>
      </p:sp>
      <p:sp>
        <p:nvSpPr>
          <p:cNvPr id="6" name="arrow_32"/>
          <p:cNvSpPr/>
          <p:nvPr/>
        </p:nvSpPr>
        <p:spPr>
          <a:xfrm>
            <a:off x="2002536" y="2313432"/>
            <a:ext cx="137160" cy="914"/>
          </a:xfrm>
          <a:prstGeom prst="line">
            <a:avLst/>
          </a:prstGeom>
          <a:noFill/>
          <a:ln w="19050">
            <a:solidFill>
              <a:srgbClr val="8A1538"/>
            </a:solidFill>
            <a:prstDash val="solid"/>
            <a:tailEnd type="triangle"/>
          </a:ln>
        </p:spPr>
      </p:sp>
      <p:sp>
        <p:nvSpPr>
          <p:cNvPr id="7" name="card_33"/>
          <p:cNvSpPr/>
          <p:nvPr/>
        </p:nvSpPr>
        <p:spPr>
          <a:xfrm>
            <a:off x="2148840" y="1600200"/>
            <a:ext cx="1444752" cy="1417320"/>
          </a:xfrm>
          <a:prstGeom prst="roundRect">
            <a:avLst>
              <a:gd name="adj" fmla="val 7742"/>
            </a:avLst>
          </a:prstGeom>
          <a:solidFill>
            <a:srgbClr val="F8EFF2"/>
          </a:solidFill>
          <a:ln/>
        </p:spPr>
      </p:sp>
      <p:sp>
        <p:nvSpPr>
          <p:cNvPr id="8" name="text_34"/>
          <p:cNvSpPr txBox="1"/>
          <p:nvPr/>
        </p:nvSpPr>
        <p:spPr>
          <a:xfrm>
            <a:off x="2258568" y="17830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500" dirty="0"/>
          </a:p>
        </p:txBody>
      </p:sp>
      <p:sp>
        <p:nvSpPr>
          <p:cNvPr id="9" name="text_35"/>
          <p:cNvSpPr txBox="1"/>
          <p:nvPr/>
        </p:nvSpPr>
        <p:spPr>
          <a:xfrm>
            <a:off x="2258568" y="22585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 tables, joins, conditions</a:t>
            </a:r>
            <a:endParaRPr lang="en-US" sz="1200" dirty="0"/>
          </a:p>
        </p:txBody>
      </p:sp>
      <p:sp>
        <p:nvSpPr>
          <p:cNvPr id="10" name="arrow_36"/>
          <p:cNvSpPr/>
          <p:nvPr/>
        </p:nvSpPr>
        <p:spPr>
          <a:xfrm>
            <a:off x="3602736" y="2313432"/>
            <a:ext cx="137160" cy="914"/>
          </a:xfrm>
          <a:prstGeom prst="line">
            <a:avLst/>
          </a:prstGeom>
          <a:noFill/>
          <a:ln w="19050">
            <a:solidFill>
              <a:srgbClr val="8A1538"/>
            </a:solidFill>
            <a:prstDash val="solid"/>
            <a:tailEnd type="triangle"/>
          </a:ln>
        </p:spPr>
      </p:sp>
      <p:sp>
        <p:nvSpPr>
          <p:cNvPr id="11" name="card_37"/>
          <p:cNvSpPr/>
          <p:nvPr/>
        </p:nvSpPr>
        <p:spPr>
          <a:xfrm>
            <a:off x="3749040" y="1600200"/>
            <a:ext cx="1444752" cy="1417320"/>
          </a:xfrm>
          <a:prstGeom prst="roundRect">
            <a:avLst>
              <a:gd name="adj" fmla="val 7742"/>
            </a:avLst>
          </a:prstGeom>
          <a:solidFill>
            <a:srgbClr val="F8EFF2"/>
          </a:solidFill>
          <a:ln/>
        </p:spPr>
      </p:sp>
      <p:sp>
        <p:nvSpPr>
          <p:cNvPr id="12" name="text_38"/>
          <p:cNvSpPr txBox="1"/>
          <p:nvPr/>
        </p:nvSpPr>
        <p:spPr>
          <a:xfrm>
            <a:off x="3858768" y="17830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networks</a:t>
            </a:r>
            <a:endParaRPr lang="en-US" sz="1500" dirty="0"/>
          </a:p>
        </p:txBody>
      </p:sp>
      <p:sp>
        <p:nvSpPr>
          <p:cNvPr id="13" name="text_39"/>
          <p:cNvSpPr txBox="1"/>
          <p:nvPr/>
        </p:nvSpPr>
        <p:spPr>
          <a:xfrm>
            <a:off x="3858768" y="22585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 row fractions</a:t>
            </a:r>
            <a:endParaRPr lang="en-US" sz="1200" dirty="0"/>
          </a:p>
        </p:txBody>
      </p:sp>
      <p:sp>
        <p:nvSpPr>
          <p:cNvPr id="14" name="arrow_40"/>
          <p:cNvSpPr/>
          <p:nvPr/>
        </p:nvSpPr>
        <p:spPr>
          <a:xfrm>
            <a:off x="5202936" y="2313432"/>
            <a:ext cx="137160" cy="914"/>
          </a:xfrm>
          <a:prstGeom prst="line">
            <a:avLst/>
          </a:prstGeom>
          <a:noFill/>
          <a:ln w="19050">
            <a:solidFill>
              <a:srgbClr val="8A1538"/>
            </a:solidFill>
            <a:prstDash val="solid"/>
            <a:tailEnd type="triangle"/>
          </a:ln>
        </p:spPr>
      </p:sp>
      <p:sp>
        <p:nvSpPr>
          <p:cNvPr id="15" name="card_41"/>
          <p:cNvSpPr/>
          <p:nvPr/>
        </p:nvSpPr>
        <p:spPr>
          <a:xfrm>
            <a:off x="5349240" y="1600200"/>
            <a:ext cx="1444752" cy="1417320"/>
          </a:xfrm>
          <a:prstGeom prst="roundRect">
            <a:avLst>
              <a:gd name="adj" fmla="val 7742"/>
            </a:avLst>
          </a:prstGeom>
          <a:solidFill>
            <a:srgbClr val="F8EFF2"/>
          </a:solidFill>
          <a:ln/>
        </p:spPr>
      </p:sp>
      <p:sp>
        <p:nvSpPr>
          <p:cNvPr id="16" name="text_42"/>
          <p:cNvSpPr txBox="1"/>
          <p:nvPr/>
        </p:nvSpPr>
        <p:spPr>
          <a:xfrm>
            <a:off x="5458968" y="17830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FactorJoin</a:t>
            </a:r>
            <a:endParaRPr lang="en-US" sz="1500" dirty="0"/>
          </a:p>
        </p:txBody>
      </p:sp>
      <p:sp>
        <p:nvSpPr>
          <p:cNvPr id="17" name="text_43"/>
          <p:cNvSpPr txBox="1"/>
          <p:nvPr/>
        </p:nvSpPr>
        <p:spPr>
          <a:xfrm>
            <a:off x="5458968" y="22585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tables by key bins</a:t>
            </a:r>
            <a:endParaRPr lang="en-US" sz="1200" dirty="0"/>
          </a:p>
        </p:txBody>
      </p:sp>
      <p:sp>
        <p:nvSpPr>
          <p:cNvPr id="18" name="arrow_44"/>
          <p:cNvSpPr/>
          <p:nvPr/>
        </p:nvSpPr>
        <p:spPr>
          <a:xfrm>
            <a:off x="6803136" y="2313432"/>
            <a:ext cx="137160" cy="914"/>
          </a:xfrm>
          <a:prstGeom prst="line">
            <a:avLst/>
          </a:prstGeom>
          <a:noFill/>
          <a:ln w="19050">
            <a:solidFill>
              <a:srgbClr val="8A1538"/>
            </a:solidFill>
            <a:prstDash val="solid"/>
            <a:tailEnd type="triangle"/>
          </a:ln>
        </p:spPr>
      </p:sp>
      <p:sp>
        <p:nvSpPr>
          <p:cNvPr id="19" name="card_45"/>
          <p:cNvSpPr/>
          <p:nvPr/>
        </p:nvSpPr>
        <p:spPr>
          <a:xfrm>
            <a:off x="6949440" y="1600200"/>
            <a:ext cx="1444752" cy="1417320"/>
          </a:xfrm>
          <a:prstGeom prst="roundRect">
            <a:avLst>
              <a:gd name="adj" fmla="val 7742"/>
            </a:avLst>
          </a:prstGeom>
          <a:solidFill>
            <a:srgbClr val="8A1538"/>
          </a:solidFill>
          <a:ln/>
        </p:spPr>
      </p:sp>
      <p:sp>
        <p:nvSpPr>
          <p:cNvPr id="20" name="text_46"/>
          <p:cNvSpPr txBox="1"/>
          <p:nvPr/>
        </p:nvSpPr>
        <p:spPr>
          <a:xfrm>
            <a:off x="7059168" y="17830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TreeLSTM</a:t>
            </a:r>
            <a:endParaRPr lang="en-US" sz="1500" dirty="0"/>
          </a:p>
        </p:txBody>
      </p:sp>
      <p:sp>
        <p:nvSpPr>
          <p:cNvPr id="21" name="text_47"/>
          <p:cNvSpPr txBox="1"/>
          <p:nvPr/>
        </p:nvSpPr>
        <p:spPr>
          <a:xfrm>
            <a:off x="7059168" y="22585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query tree</a:t>
            </a:r>
            <a:endParaRPr lang="en-US" sz="1200" dirty="0"/>
          </a:p>
        </p:txBody>
      </p:sp>
      <p:sp>
        <p:nvSpPr>
          <p:cNvPr id="22" name="arrow_48"/>
          <p:cNvSpPr/>
          <p:nvPr/>
        </p:nvSpPr>
        <p:spPr>
          <a:xfrm>
            <a:off x="8403336" y="2313432"/>
            <a:ext cx="137160" cy="914"/>
          </a:xfrm>
          <a:prstGeom prst="line">
            <a:avLst/>
          </a:prstGeom>
          <a:noFill/>
          <a:ln w="19050">
            <a:solidFill>
              <a:srgbClr val="8A1538"/>
            </a:solidFill>
            <a:prstDash val="solid"/>
            <a:tailEnd type="triangle"/>
          </a:ln>
        </p:spPr>
      </p:sp>
      <p:sp>
        <p:nvSpPr>
          <p:cNvPr id="23" name="card_49"/>
          <p:cNvSpPr/>
          <p:nvPr/>
        </p:nvSpPr>
        <p:spPr>
          <a:xfrm>
            <a:off x="8549640" y="1600200"/>
            <a:ext cx="1444752" cy="1417320"/>
          </a:xfrm>
          <a:prstGeom prst="roundRect">
            <a:avLst>
              <a:gd name="adj" fmla="val 7742"/>
            </a:avLst>
          </a:prstGeom>
          <a:solidFill>
            <a:srgbClr val="8A1538"/>
          </a:solidFill>
          <a:ln/>
        </p:spPr>
      </p:sp>
      <p:sp>
        <p:nvSpPr>
          <p:cNvPr id="24" name="text_50"/>
          <p:cNvSpPr txBox="1"/>
          <p:nvPr/>
        </p:nvSpPr>
        <p:spPr>
          <a:xfrm>
            <a:off x="8659368" y="17830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500" dirty="0"/>
          </a:p>
        </p:txBody>
      </p:sp>
      <p:sp>
        <p:nvSpPr>
          <p:cNvPr id="25" name="text_51"/>
          <p:cNvSpPr txBox="1"/>
          <p:nvPr/>
        </p:nvSpPr>
        <p:spPr>
          <a:xfrm>
            <a:off x="8659368" y="22585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FactorJoin</a:t>
            </a:r>
            <a:endParaRPr lang="en-US" sz="1200" dirty="0"/>
          </a:p>
        </p:txBody>
      </p:sp>
      <p:sp>
        <p:nvSpPr>
          <p:cNvPr id="26" name="arrow_52"/>
          <p:cNvSpPr/>
          <p:nvPr/>
        </p:nvSpPr>
        <p:spPr>
          <a:xfrm>
            <a:off x="10003536" y="2313432"/>
            <a:ext cx="137160" cy="914"/>
          </a:xfrm>
          <a:prstGeom prst="line">
            <a:avLst/>
          </a:prstGeom>
          <a:noFill/>
          <a:ln w="19050">
            <a:solidFill>
              <a:srgbClr val="8A1538"/>
            </a:solidFill>
            <a:prstDash val="solid"/>
            <a:tailEnd type="triangle"/>
          </a:ln>
        </p:spPr>
      </p:sp>
      <p:sp>
        <p:nvSpPr>
          <p:cNvPr id="27" name="card_53"/>
          <p:cNvSpPr/>
          <p:nvPr/>
        </p:nvSpPr>
        <p:spPr>
          <a:xfrm>
            <a:off x="10149840" y="1600200"/>
            <a:ext cx="1444752" cy="1417320"/>
          </a:xfrm>
          <a:prstGeom prst="roundRect">
            <a:avLst>
              <a:gd name="adj" fmla="val 7742"/>
            </a:avLst>
          </a:prstGeom>
          <a:solidFill>
            <a:srgbClr val="F8EFF2"/>
          </a:solidFill>
          <a:ln/>
        </p:spPr>
      </p:sp>
      <p:sp>
        <p:nvSpPr>
          <p:cNvPr id="28" name="text_54"/>
          <p:cNvSpPr txBox="1"/>
          <p:nvPr/>
        </p:nvSpPr>
        <p:spPr>
          <a:xfrm>
            <a:off x="10259568" y="178308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500" dirty="0"/>
          </a:p>
        </p:txBody>
      </p:sp>
      <p:sp>
        <p:nvSpPr>
          <p:cNvPr id="29" name="text_55"/>
          <p:cNvSpPr txBox="1"/>
          <p:nvPr/>
        </p:nvSpPr>
        <p:spPr>
          <a:xfrm>
            <a:off x="10259568" y="22585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join-order optimizer</a:t>
            </a:r>
            <a:endParaRPr lang="en-US" sz="1200" dirty="0"/>
          </a:p>
        </p:txBody>
      </p:sp>
      <p:sp>
        <p:nvSpPr>
          <p:cNvPr id="30" name="card_56"/>
          <p:cNvSpPr/>
          <p:nvPr/>
        </p:nvSpPr>
        <p:spPr>
          <a:xfrm>
            <a:off x="548640" y="35204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ADADD"/>
            </a:solidFill>
            <a:prstDash val="solid"/>
          </a:ln>
        </p:spPr>
      </p:sp>
      <p:sp>
        <p:nvSpPr>
          <p:cNvPr id="31" name="text_57"/>
          <p:cNvSpPr txBox="1"/>
          <p:nvPr/>
        </p:nvSpPr>
        <p:spPr>
          <a:xfrm>
            <a:off x="82296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SQL engine (no PostgreSQL server)</a:t>
            </a:r>
            <a:endParaRPr lang="en-US" sz="1500" dirty="0"/>
          </a:p>
        </p:txBody>
      </p:sp>
      <p:sp>
        <p:nvSpPr>
          <p:cNvPr id="32" name="text_58"/>
          <p:cNvSpPr txBox="1"/>
          <p:nvPr/>
        </p:nvSpPr>
        <p:spPr>
          <a:xfrm>
            <a:off x="822960" y="4023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query exactly for the true count and returns the rows. It also copies PostgreSQL’s own estimation rules, so all four estimators are compared on the same data.</a:t>
            </a:r>
            <a:endParaRPr lang="en-US" sz="1300" dirty="0"/>
          </a:p>
        </p:txBody>
      </p:sp>
      <p:sp>
        <p:nvSpPr>
          <p:cNvPr id="33" name="text_59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8,000 generated queries with exact counts → 70% train / 15% tune / 15% final 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1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Probability: Bayesian networks and MLE</a:t>
            </a:r>
            <a:endParaRPr lang="en-US" sz="3200" dirty="0"/>
          </a:p>
        </p:txBody>
      </p:sp>
      <p:sp>
        <p:nvSpPr>
          <p:cNvPr id="3" name="card_60"/>
          <p:cNvSpPr/>
          <p:nvPr/>
        </p:nvSpPr>
        <p:spPr>
          <a:xfrm>
            <a:off x="548640" y="1325880"/>
            <a:ext cx="521208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ADADD"/>
            </a:solidFill>
            <a:prstDash val="solid"/>
          </a:ln>
        </p:spPr>
      </p:sp>
      <p:sp>
        <p:nvSpPr>
          <p:cNvPr id="4" name="text_61"/>
          <p:cNvSpPr txBox="1"/>
          <p:nvPr/>
        </p:nvSpPr>
        <p:spPr>
          <a:xfrm>
            <a:off x="82296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tree for the employees table</a:t>
            </a:r>
            <a:endParaRPr lang="en-US" sz="1300" dirty="0"/>
          </a:p>
        </p:txBody>
      </p:sp>
      <p:sp>
        <p:nvSpPr>
          <p:cNvPr id="5" name="edge_62"/>
          <p:cNvSpPr/>
          <p:nvPr/>
        </p:nvSpPr>
        <p:spPr>
          <a:xfrm flipH="1">
            <a:off x="1508760" y="2148840"/>
            <a:ext cx="1508760" cy="1005840"/>
          </a:xfrm>
          <a:prstGeom prst="line">
            <a:avLst/>
          </a:prstGeom>
          <a:noFill/>
          <a:ln w="15875">
            <a:solidFill>
              <a:srgbClr val="CDBFC0"/>
            </a:solidFill>
            <a:prstDash val="solid"/>
          </a:ln>
        </p:spPr>
      </p:sp>
      <p:sp>
        <p:nvSpPr>
          <p:cNvPr id="6" name="text_63"/>
          <p:cNvSpPr txBox="1"/>
          <p:nvPr/>
        </p:nvSpPr>
        <p:spPr>
          <a:xfrm>
            <a:off x="2336292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000" dirty="0"/>
          </a:p>
        </p:txBody>
      </p:sp>
      <p:sp>
        <p:nvSpPr>
          <p:cNvPr id="7" name="edge_64"/>
          <p:cNvSpPr/>
          <p:nvPr/>
        </p:nvSpPr>
        <p:spPr>
          <a:xfrm>
            <a:off x="3017520" y="2148840"/>
            <a:ext cx="1463040" cy="1005840"/>
          </a:xfrm>
          <a:prstGeom prst="line">
            <a:avLst/>
          </a:prstGeom>
          <a:noFill/>
          <a:ln w="13653">
            <a:solidFill>
              <a:srgbClr val="CDBFC0"/>
            </a:solidFill>
            <a:prstDash val="solid"/>
          </a:ln>
        </p:spPr>
      </p:sp>
      <p:sp>
        <p:nvSpPr>
          <p:cNvPr id="8" name="text_65"/>
          <p:cNvSpPr txBox="1"/>
          <p:nvPr/>
        </p:nvSpPr>
        <p:spPr>
          <a:xfrm>
            <a:off x="3822192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00" dirty="0"/>
          </a:p>
        </p:txBody>
      </p:sp>
      <p:sp>
        <p:nvSpPr>
          <p:cNvPr id="9" name="edge_66"/>
          <p:cNvSpPr/>
          <p:nvPr/>
        </p:nvSpPr>
        <p:spPr>
          <a:xfrm>
            <a:off x="1508760" y="3154680"/>
            <a:ext cx="914" cy="1051560"/>
          </a:xfrm>
          <a:prstGeom prst="line">
            <a:avLst/>
          </a:prstGeom>
          <a:noFill/>
          <a:ln w="65723">
            <a:solidFill>
              <a:srgbClr val="8A1538"/>
            </a:solidFill>
            <a:prstDash val="solid"/>
          </a:ln>
        </p:spPr>
      </p:sp>
      <p:sp>
        <p:nvSpPr>
          <p:cNvPr id="10" name="text_67"/>
          <p:cNvSpPr txBox="1"/>
          <p:nvPr/>
        </p:nvSpPr>
        <p:spPr>
          <a:xfrm>
            <a:off x="1581912" y="3543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1.67</a:t>
            </a:r>
            <a:endParaRPr lang="en-US" sz="1000" dirty="0"/>
          </a:p>
        </p:txBody>
      </p:sp>
      <p:sp>
        <p:nvSpPr>
          <p:cNvPr id="11" name="edge_68"/>
          <p:cNvSpPr/>
          <p:nvPr/>
        </p:nvSpPr>
        <p:spPr>
          <a:xfrm>
            <a:off x="1508760" y="4206240"/>
            <a:ext cx="914" cy="1051560"/>
          </a:xfrm>
          <a:prstGeom prst="line">
            <a:avLst/>
          </a:prstGeom>
          <a:noFill/>
          <a:ln w="70168">
            <a:solidFill>
              <a:srgbClr val="8A1538"/>
            </a:solidFill>
            <a:prstDash val="solid"/>
          </a:ln>
        </p:spPr>
      </p:sp>
      <p:sp>
        <p:nvSpPr>
          <p:cNvPr id="12" name="text_69"/>
          <p:cNvSpPr txBox="1"/>
          <p:nvPr/>
        </p:nvSpPr>
        <p:spPr>
          <a:xfrm>
            <a:off x="1581912" y="45948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1.81</a:t>
            </a:r>
            <a:endParaRPr lang="en-US" sz="1000" dirty="0"/>
          </a:p>
        </p:txBody>
      </p:sp>
      <p:sp>
        <p:nvSpPr>
          <p:cNvPr id="13" name="edge_70"/>
          <p:cNvSpPr/>
          <p:nvPr/>
        </p:nvSpPr>
        <p:spPr>
          <a:xfrm>
            <a:off x="4480560" y="3154680"/>
            <a:ext cx="914" cy="1051560"/>
          </a:xfrm>
          <a:prstGeom prst="line">
            <a:avLst/>
          </a:prstGeom>
          <a:noFill/>
          <a:ln w="28893">
            <a:solidFill>
              <a:srgbClr val="8A1538"/>
            </a:solidFill>
            <a:prstDash val="solid"/>
          </a:ln>
        </p:spPr>
      </p:sp>
      <p:sp>
        <p:nvSpPr>
          <p:cNvPr id="14" name="text_71"/>
          <p:cNvSpPr txBox="1"/>
          <p:nvPr/>
        </p:nvSpPr>
        <p:spPr>
          <a:xfrm>
            <a:off x="4553712" y="3543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000" dirty="0"/>
          </a:p>
        </p:txBody>
      </p:sp>
      <p:sp>
        <p:nvSpPr>
          <p:cNvPr id="15" name="node_72"/>
          <p:cNvSpPr/>
          <p:nvPr/>
        </p:nvSpPr>
        <p:spPr>
          <a:xfrm>
            <a:off x="2359152" y="1956816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F8EFF2"/>
          </a:solidFill>
          <a:ln/>
        </p:spPr>
      </p:sp>
      <p:sp>
        <p:nvSpPr>
          <p:cNvPr id="16" name="text_73"/>
          <p:cNvSpPr txBox="1"/>
          <p:nvPr/>
        </p:nvSpPr>
        <p:spPr>
          <a:xfrm>
            <a:off x="2359152" y="195681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</a:t>
            </a:r>
            <a:endParaRPr lang="en-US" sz="1200" dirty="0"/>
          </a:p>
        </p:txBody>
      </p:sp>
      <p:sp>
        <p:nvSpPr>
          <p:cNvPr id="17" name="node_74"/>
          <p:cNvSpPr/>
          <p:nvPr/>
        </p:nvSpPr>
        <p:spPr>
          <a:xfrm>
            <a:off x="850392" y="2962656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F8EFF2"/>
          </a:solidFill>
          <a:ln/>
        </p:spPr>
      </p:sp>
      <p:sp>
        <p:nvSpPr>
          <p:cNvPr id="18" name="text_75"/>
          <p:cNvSpPr txBox="1"/>
          <p:nvPr/>
        </p:nvSpPr>
        <p:spPr>
          <a:xfrm>
            <a:off x="850392" y="29626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200" dirty="0"/>
          </a:p>
        </p:txBody>
      </p:sp>
      <p:sp>
        <p:nvSpPr>
          <p:cNvPr id="19" name="node_76"/>
          <p:cNvSpPr/>
          <p:nvPr/>
        </p:nvSpPr>
        <p:spPr>
          <a:xfrm>
            <a:off x="3822192" y="2962656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/>
        </p:spPr>
      </p:sp>
      <p:sp>
        <p:nvSpPr>
          <p:cNvPr id="20" name="text_77"/>
          <p:cNvSpPr txBox="1"/>
          <p:nvPr/>
        </p:nvSpPr>
        <p:spPr>
          <a:xfrm>
            <a:off x="3822192" y="29626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</a:t>
            </a:r>
            <a:endParaRPr lang="en-US" sz="1200" dirty="0"/>
          </a:p>
        </p:txBody>
      </p:sp>
      <p:sp>
        <p:nvSpPr>
          <p:cNvPr id="21" name="node_78"/>
          <p:cNvSpPr/>
          <p:nvPr/>
        </p:nvSpPr>
        <p:spPr>
          <a:xfrm>
            <a:off x="850392" y="4014216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F8EFF2"/>
          </a:solidFill>
          <a:ln/>
        </p:spPr>
      </p:sp>
      <p:sp>
        <p:nvSpPr>
          <p:cNvPr id="22" name="text_79"/>
          <p:cNvSpPr txBox="1"/>
          <p:nvPr/>
        </p:nvSpPr>
        <p:spPr>
          <a:xfrm>
            <a:off x="850392" y="401421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23" name="node_80"/>
          <p:cNvSpPr/>
          <p:nvPr/>
        </p:nvSpPr>
        <p:spPr>
          <a:xfrm>
            <a:off x="3822192" y="4014216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8A1538"/>
          </a:solidFill>
          <a:ln/>
        </p:spPr>
      </p:sp>
      <p:sp>
        <p:nvSpPr>
          <p:cNvPr id="24" name="text_81"/>
          <p:cNvSpPr txBox="1"/>
          <p:nvPr/>
        </p:nvSpPr>
        <p:spPr>
          <a:xfrm>
            <a:off x="3822192" y="401421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200" dirty="0"/>
          </a:p>
        </p:txBody>
      </p:sp>
      <p:sp>
        <p:nvSpPr>
          <p:cNvPr id="25" name="node_82"/>
          <p:cNvSpPr/>
          <p:nvPr/>
        </p:nvSpPr>
        <p:spPr>
          <a:xfrm>
            <a:off x="850392" y="5065776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F8EFF2"/>
          </a:solidFill>
          <a:ln/>
        </p:spPr>
      </p:sp>
      <p:sp>
        <p:nvSpPr>
          <p:cNvPr id="26" name="text_83"/>
          <p:cNvSpPr txBox="1"/>
          <p:nvPr/>
        </p:nvSpPr>
        <p:spPr>
          <a:xfrm>
            <a:off x="850392" y="506577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27" name="text_84"/>
          <p:cNvSpPr txBox="1"/>
          <p:nvPr/>
        </p:nvSpPr>
        <p:spPr>
          <a:xfrm>
            <a:off x="822960" y="5623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thickness = mutual information (how strongly two columns move together)</a:t>
            </a:r>
            <a:endParaRPr lang="en-US" sz="1100" dirty="0"/>
          </a:p>
        </p:txBody>
      </p:sp>
      <p:sp>
        <p:nvSpPr>
          <p:cNvPr id="28" name="text_85"/>
          <p:cNvSpPr txBox="1"/>
          <p:nvPr/>
        </p:nvSpPr>
        <p:spPr>
          <a:xfrm>
            <a:off x="6172200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</a:t>
            </a:r>
            <a:endParaRPr lang="en-US" sz="1600" dirty="0"/>
          </a:p>
        </p:txBody>
      </p:sp>
      <p:sp>
        <p:nvSpPr>
          <p:cNvPr id="29" name="text_86"/>
          <p:cNvSpPr txBox="1"/>
          <p:nvPr/>
        </p:nvSpPr>
        <p:spPr>
          <a:xfrm>
            <a:off x="6172200" y="171907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how columns depend on each other as a small tree of links instead of one huge table of every combination.</a:t>
            </a:r>
            <a:endParaRPr lang="en-US" sz="1400" dirty="0"/>
          </a:p>
        </p:txBody>
      </p:sp>
      <p:sp>
        <p:nvSpPr>
          <p:cNvPr id="30" name="text_87"/>
          <p:cNvSpPr txBox="1"/>
          <p:nvPr/>
        </p:nvSpPr>
        <p:spPr>
          <a:xfrm>
            <a:off x="6172200" y="2560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Chow-Liu tree</a:t>
            </a:r>
            <a:endParaRPr lang="en-US" sz="1600" dirty="0"/>
          </a:p>
        </p:txBody>
      </p:sp>
      <p:sp>
        <p:nvSpPr>
          <p:cNvPr id="31" name="text_88"/>
          <p:cNvSpPr txBox="1"/>
          <p:nvPr/>
        </p:nvSpPr>
        <p:spPr>
          <a:xfrm>
            <a:off x="6172200" y="290779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links with the highest mutual information. This is the best possible tree for the data.</a:t>
            </a:r>
            <a:endParaRPr lang="en-US" sz="1400" dirty="0"/>
          </a:p>
        </p:txBody>
      </p:sp>
      <p:sp>
        <p:nvSpPr>
          <p:cNvPr id="32" name="text_89"/>
          <p:cNvSpPr txBox="1"/>
          <p:nvPr/>
        </p:nvSpPr>
        <p:spPr>
          <a:xfrm>
            <a:off x="6172200" y="3749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</a:t>
            </a:r>
            <a:endParaRPr lang="en-US" sz="1600" dirty="0"/>
          </a:p>
        </p:txBody>
      </p:sp>
      <p:sp>
        <p:nvSpPr>
          <p:cNvPr id="33" name="text_90"/>
          <p:cNvSpPr txBox="1"/>
          <p:nvPr/>
        </p:nvSpPr>
        <p:spPr>
          <a:xfrm>
            <a:off x="6172200" y="409651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probability = count ÷ total, the values that make the observed data most likely. A tiny prior (0.001) avoids exact zeros.</a:t>
            </a:r>
            <a:endParaRPr lang="en-US" sz="1400" dirty="0"/>
          </a:p>
        </p:txBody>
      </p:sp>
      <p:sp>
        <p:nvSpPr>
          <p:cNvPr id="34" name="text_91"/>
          <p:cNvSpPr txBox="1"/>
          <p:nvPr/>
        </p:nvSpPr>
        <p:spPr>
          <a:xfrm>
            <a:off x="6172200" y="4937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</p:txBody>
      </p:sp>
      <p:sp>
        <p:nvSpPr>
          <p:cNvPr id="35" name="text_92"/>
          <p:cNvSpPr txBox="1"/>
          <p:nvPr/>
        </p:nvSpPr>
        <p:spPr>
          <a:xfrm>
            <a:off x="6172200" y="528523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multiplies separate fractions: 0.17 × 0.28 → 240 rows. The network knows P(Bangalore | Engineering) = 0.85 → 738 rows, exactly right.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1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TreeLSTM: reading the query as a tree</a:t>
            </a:r>
            <a:endParaRPr lang="en-US" sz="3200" dirty="0"/>
          </a:p>
        </p:txBody>
      </p:sp>
      <p:sp>
        <p:nvSpPr>
          <p:cNvPr id="3" name="card_93"/>
          <p:cNvSpPr/>
          <p:nvPr/>
        </p:nvSpPr>
        <p:spPr>
          <a:xfrm>
            <a:off x="548640" y="132588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ADADD"/>
            </a:solidFill>
            <a:prstDash val="solid"/>
          </a:ln>
        </p:spPr>
      </p:sp>
      <p:sp>
        <p:nvSpPr>
          <p:cNvPr id="4" name="tedge_94"/>
          <p:cNvSpPr/>
          <p:nvPr/>
        </p:nvSpPr>
        <p:spPr>
          <a:xfrm flipV="1">
            <a:off x="3291840" y="2002536"/>
            <a:ext cx="914" cy="566928"/>
          </a:xfrm>
          <a:prstGeom prst="line">
            <a:avLst/>
          </a:prstGeom>
          <a:noFill/>
          <a:ln w="19050">
            <a:solidFill>
              <a:srgbClr val="B9ADAF"/>
            </a:solidFill>
            <a:prstDash val="solid"/>
            <a:tailEnd type="triangle"/>
          </a:ln>
        </p:spPr>
      </p:sp>
      <p:sp>
        <p:nvSpPr>
          <p:cNvPr id="5" name="tedge_95"/>
          <p:cNvSpPr/>
          <p:nvPr/>
        </p:nvSpPr>
        <p:spPr>
          <a:xfrm flipV="1">
            <a:off x="1920240" y="3008376"/>
            <a:ext cx="1371600" cy="566928"/>
          </a:xfrm>
          <a:prstGeom prst="line">
            <a:avLst/>
          </a:prstGeom>
          <a:noFill/>
          <a:ln w="19050">
            <a:solidFill>
              <a:srgbClr val="B9ADAF"/>
            </a:solidFill>
            <a:prstDash val="solid"/>
            <a:tailEnd type="triangle"/>
          </a:ln>
        </p:spPr>
      </p:sp>
      <p:sp>
        <p:nvSpPr>
          <p:cNvPr id="6" name="tedge_96"/>
          <p:cNvSpPr/>
          <p:nvPr/>
        </p:nvSpPr>
        <p:spPr>
          <a:xfrm flipH="1" flipV="1">
            <a:off x="3291840" y="3008376"/>
            <a:ext cx="1371600" cy="566928"/>
          </a:xfrm>
          <a:prstGeom prst="line">
            <a:avLst/>
          </a:prstGeom>
          <a:noFill/>
          <a:ln w="19050">
            <a:solidFill>
              <a:srgbClr val="B9ADAF"/>
            </a:solidFill>
            <a:prstDash val="solid"/>
            <a:tailEnd type="triangle"/>
          </a:ln>
        </p:spPr>
      </p:sp>
      <p:sp>
        <p:nvSpPr>
          <p:cNvPr id="7" name="tedge_97"/>
          <p:cNvSpPr/>
          <p:nvPr/>
        </p:nvSpPr>
        <p:spPr>
          <a:xfrm flipV="1">
            <a:off x="1920240" y="4014216"/>
            <a:ext cx="914" cy="566928"/>
          </a:xfrm>
          <a:prstGeom prst="line">
            <a:avLst/>
          </a:prstGeom>
          <a:noFill/>
          <a:ln w="19050">
            <a:solidFill>
              <a:srgbClr val="B9ADAF"/>
            </a:solidFill>
            <a:prstDash val="solid"/>
            <a:tailEnd type="triangle"/>
          </a:ln>
        </p:spPr>
      </p:sp>
      <p:sp>
        <p:nvSpPr>
          <p:cNvPr id="8" name="tedge_98"/>
          <p:cNvSpPr/>
          <p:nvPr/>
        </p:nvSpPr>
        <p:spPr>
          <a:xfrm flipV="1">
            <a:off x="4663440" y="4014216"/>
            <a:ext cx="914" cy="566928"/>
          </a:xfrm>
          <a:prstGeom prst="line">
            <a:avLst/>
          </a:prstGeom>
          <a:noFill/>
          <a:ln w="19050">
            <a:solidFill>
              <a:srgbClr val="B9ADAF"/>
            </a:solidFill>
            <a:prstDash val="solid"/>
            <a:tailEnd type="triangle"/>
          </a:ln>
        </p:spPr>
      </p:sp>
      <p:sp>
        <p:nvSpPr>
          <p:cNvPr id="9" name="tnode_99"/>
          <p:cNvSpPr/>
          <p:nvPr/>
        </p:nvSpPr>
        <p:spPr>
          <a:xfrm>
            <a:off x="2240280" y="1563624"/>
            <a:ext cx="210312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B01E4F"/>
            </a:solidFill>
            <a:prstDash val="solid"/>
          </a:ln>
        </p:spPr>
      </p:sp>
      <p:sp>
        <p:nvSpPr>
          <p:cNvPr id="10" name="text_100"/>
          <p:cNvSpPr txBox="1"/>
          <p:nvPr/>
        </p:nvSpPr>
        <p:spPr>
          <a:xfrm>
            <a:off x="2240280" y="15636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A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endParaRPr lang="en-US" sz="1200" dirty="0"/>
          </a:p>
        </p:txBody>
      </p:sp>
      <p:sp>
        <p:nvSpPr>
          <p:cNvPr id="11" name="tnode_101"/>
          <p:cNvSpPr/>
          <p:nvPr/>
        </p:nvSpPr>
        <p:spPr>
          <a:xfrm>
            <a:off x="2240280" y="2569464"/>
            <a:ext cx="210312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9C80"/>
            </a:solidFill>
            <a:prstDash val="solid"/>
          </a:ln>
        </p:spPr>
      </p:sp>
      <p:sp>
        <p:nvSpPr>
          <p:cNvPr id="12" name="text_102"/>
          <p:cNvSpPr txBox="1"/>
          <p:nvPr/>
        </p:nvSpPr>
        <p:spPr>
          <a:xfrm>
            <a:off x="2240280" y="256946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A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dept_id</a:t>
            </a:r>
            <a:endParaRPr lang="en-US" sz="1200" dirty="0"/>
          </a:p>
        </p:txBody>
      </p:sp>
      <p:sp>
        <p:nvSpPr>
          <p:cNvPr id="13" name="tnode_103"/>
          <p:cNvSpPr/>
          <p:nvPr/>
        </p:nvSpPr>
        <p:spPr>
          <a:xfrm>
            <a:off x="868680" y="3575304"/>
            <a:ext cx="210312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D08C1E"/>
            </a:solidFill>
            <a:prstDash val="solid"/>
          </a:ln>
        </p:spPr>
      </p:sp>
      <p:sp>
        <p:nvSpPr>
          <p:cNvPr id="14" name="text_104"/>
          <p:cNvSpPr txBox="1"/>
          <p:nvPr/>
        </p:nvSpPr>
        <p:spPr>
          <a:xfrm>
            <a:off x="868680" y="357530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A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employees</a:t>
            </a:r>
            <a:endParaRPr lang="en-US" sz="1200" dirty="0"/>
          </a:p>
        </p:txBody>
      </p:sp>
      <p:sp>
        <p:nvSpPr>
          <p:cNvPr id="15" name="tnode_105"/>
          <p:cNvSpPr/>
          <p:nvPr/>
        </p:nvSpPr>
        <p:spPr>
          <a:xfrm>
            <a:off x="3611880" y="3575304"/>
            <a:ext cx="210312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D08C1E"/>
            </a:solidFill>
            <a:prstDash val="solid"/>
          </a:ln>
        </p:spPr>
      </p:sp>
      <p:sp>
        <p:nvSpPr>
          <p:cNvPr id="16" name="text_106"/>
          <p:cNvSpPr txBox="1"/>
          <p:nvPr/>
        </p:nvSpPr>
        <p:spPr>
          <a:xfrm>
            <a:off x="3611880" y="357530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A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projects</a:t>
            </a:r>
            <a:endParaRPr lang="en-US" sz="1200" dirty="0"/>
          </a:p>
        </p:txBody>
      </p:sp>
      <p:sp>
        <p:nvSpPr>
          <p:cNvPr id="17" name="tnode_107"/>
          <p:cNvSpPr/>
          <p:nvPr/>
        </p:nvSpPr>
        <p:spPr>
          <a:xfrm>
            <a:off x="868680" y="4581144"/>
            <a:ext cx="210312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3D72B0"/>
            </a:solidFill>
            <a:prstDash val="solid"/>
          </a:ln>
        </p:spPr>
      </p:sp>
      <p:sp>
        <p:nvSpPr>
          <p:cNvPr id="18" name="text_108"/>
          <p:cNvSpPr txBox="1"/>
          <p:nvPr/>
        </p:nvSpPr>
        <p:spPr>
          <a:xfrm>
            <a:off x="868680" y="45811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A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'Bangalore'</a:t>
            </a:r>
            <a:endParaRPr lang="en-US" sz="1200" dirty="0"/>
          </a:p>
        </p:txBody>
      </p:sp>
      <p:sp>
        <p:nvSpPr>
          <p:cNvPr id="19" name="tnode_109"/>
          <p:cNvSpPr/>
          <p:nvPr/>
        </p:nvSpPr>
        <p:spPr>
          <a:xfrm>
            <a:off x="3611880" y="4581144"/>
            <a:ext cx="210312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3D72B0"/>
            </a:solidFill>
            <a:prstDash val="solid"/>
          </a:ln>
        </p:spPr>
      </p:sp>
      <p:sp>
        <p:nvSpPr>
          <p:cNvPr id="20" name="text_110"/>
          <p:cNvSpPr txBox="1"/>
          <p:nvPr/>
        </p:nvSpPr>
        <p:spPr>
          <a:xfrm>
            <a:off x="3611880" y="45811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A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budget_tier = 5</a:t>
            </a:r>
            <a:endParaRPr lang="en-US" sz="1200" dirty="0"/>
          </a:p>
        </p:txBody>
      </p:sp>
      <p:sp>
        <p:nvSpPr>
          <p:cNvPr id="21" name="text_111"/>
          <p:cNvSpPr txBox="1"/>
          <p:nvPr/>
        </p:nvSpPr>
        <p:spPr>
          <a:xfrm>
            <a:off x="822960" y="5669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first, root last</a:t>
            </a:r>
            <a:endParaRPr lang="en-US" sz="1200" dirty="0"/>
          </a:p>
        </p:txBody>
      </p:sp>
      <p:sp>
        <p:nvSpPr>
          <p:cNvPr id="22" name="num_112"/>
          <p:cNvSpPr/>
          <p:nvPr/>
        </p:nvSpPr>
        <p:spPr>
          <a:xfrm>
            <a:off x="6400800" y="1371600"/>
            <a:ext cx="411480" cy="411480"/>
          </a:xfrm>
          <a:prstGeom prst="ellipse">
            <a:avLst/>
          </a:prstGeom>
          <a:solidFill>
            <a:srgbClr val="8A1538"/>
          </a:solidFill>
          <a:ln/>
        </p:spPr>
      </p:sp>
      <p:sp>
        <p:nvSpPr>
          <p:cNvPr id="23" name="text_113"/>
          <p:cNvSpPr txBox="1"/>
          <p:nvPr/>
        </p:nvSpPr>
        <p:spPr>
          <a:xfrm>
            <a:off x="64008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_114"/>
          <p:cNvSpPr txBox="1"/>
          <p:nvPr/>
        </p:nvSpPr>
        <p:spPr>
          <a:xfrm>
            <a:off x="6995160" y="1353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600" dirty="0"/>
          </a:p>
        </p:txBody>
      </p:sp>
      <p:sp>
        <p:nvSpPr>
          <p:cNvPr id="25" name="text_115"/>
          <p:cNvSpPr txBox="1"/>
          <p:nvPr/>
        </p:nvSpPr>
        <p:spPr>
          <a:xfrm>
            <a:off x="6995160" y="170078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becomes a tree: conditions at the leaves, then table scans, then joins, then COUNT at the root.</a:t>
            </a:r>
            <a:endParaRPr lang="en-US" sz="1400" dirty="0"/>
          </a:p>
        </p:txBody>
      </p:sp>
      <p:sp>
        <p:nvSpPr>
          <p:cNvPr id="26" name="num_116"/>
          <p:cNvSpPr/>
          <p:nvPr/>
        </p:nvSpPr>
        <p:spPr>
          <a:xfrm>
            <a:off x="6400800" y="2560320"/>
            <a:ext cx="411480" cy="411480"/>
          </a:xfrm>
          <a:prstGeom prst="ellipse">
            <a:avLst/>
          </a:prstGeom>
          <a:solidFill>
            <a:srgbClr val="8A1538"/>
          </a:solidFill>
          <a:ln/>
        </p:spPr>
      </p:sp>
      <p:sp>
        <p:nvSpPr>
          <p:cNvPr id="27" name="text_117"/>
          <p:cNvSpPr txBox="1"/>
          <p:nvPr/>
        </p:nvSpPr>
        <p:spPr>
          <a:xfrm>
            <a:off x="64008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_118"/>
          <p:cNvSpPr txBox="1"/>
          <p:nvPr/>
        </p:nvSpPr>
        <p:spPr>
          <a:xfrm>
            <a:off x="6995160" y="2542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each node</a:t>
            </a:r>
            <a:endParaRPr lang="en-US" sz="1600" dirty="0"/>
          </a:p>
        </p:txBody>
      </p:sp>
      <p:sp>
        <p:nvSpPr>
          <p:cNvPr id="29" name="text_119"/>
          <p:cNvSpPr txBox="1"/>
          <p:nvPr/>
        </p:nvSpPr>
        <p:spPr>
          <a:xfrm>
            <a:off x="6995160" y="288950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becomes numbers: kind, table, column, operator, value range, and its selectivity.</a:t>
            </a:r>
            <a:endParaRPr lang="en-US" sz="1400" dirty="0"/>
          </a:p>
        </p:txBody>
      </p:sp>
      <p:sp>
        <p:nvSpPr>
          <p:cNvPr id="30" name="num_120"/>
          <p:cNvSpPr/>
          <p:nvPr/>
        </p:nvSpPr>
        <p:spPr>
          <a:xfrm>
            <a:off x="6400800" y="3749040"/>
            <a:ext cx="411480" cy="411480"/>
          </a:xfrm>
          <a:prstGeom prst="ellipse">
            <a:avLst/>
          </a:prstGeom>
          <a:solidFill>
            <a:srgbClr val="8A1538"/>
          </a:solidFill>
          <a:ln/>
        </p:spPr>
      </p:sp>
      <p:sp>
        <p:nvSpPr>
          <p:cNvPr id="31" name="text_121"/>
          <p:cNvSpPr txBox="1"/>
          <p:nvPr/>
        </p:nvSpPr>
        <p:spPr>
          <a:xfrm>
            <a:off x="64008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_122"/>
          <p:cNvSpPr txBox="1"/>
          <p:nvPr/>
        </p:nvSpPr>
        <p:spPr>
          <a:xfrm>
            <a:off x="6995160" y="3730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bottom-up</a:t>
            </a:r>
            <a:endParaRPr lang="en-US" sz="1600" dirty="0"/>
          </a:p>
        </p:txBody>
      </p:sp>
      <p:sp>
        <p:nvSpPr>
          <p:cNvPr id="33" name="text_123"/>
          <p:cNvSpPr txBox="1"/>
          <p:nvPr/>
        </p:nvSpPr>
        <p:spPr>
          <a:xfrm>
            <a:off x="6995160" y="407822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merges its children. Learned gates decide what to keep (forget), what to add (input) and what to pass up (output).</a:t>
            </a:r>
            <a:endParaRPr lang="en-US" sz="1400" dirty="0"/>
          </a:p>
        </p:txBody>
      </p:sp>
      <p:sp>
        <p:nvSpPr>
          <p:cNvPr id="34" name="num_124"/>
          <p:cNvSpPr/>
          <p:nvPr/>
        </p:nvSpPr>
        <p:spPr>
          <a:xfrm>
            <a:off x="6400800" y="4937760"/>
            <a:ext cx="411480" cy="411480"/>
          </a:xfrm>
          <a:prstGeom prst="ellipse">
            <a:avLst/>
          </a:prstGeom>
          <a:solidFill>
            <a:srgbClr val="8A1538"/>
          </a:solidFill>
          <a:ln/>
        </p:spPr>
      </p:sp>
      <p:sp>
        <p:nvSpPr>
          <p:cNvPr id="35" name="text_125"/>
          <p:cNvSpPr txBox="1"/>
          <p:nvPr/>
        </p:nvSpPr>
        <p:spPr>
          <a:xfrm>
            <a:off x="640080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_126"/>
          <p:cNvSpPr txBox="1"/>
          <p:nvPr/>
        </p:nvSpPr>
        <p:spPr>
          <a:xfrm>
            <a:off x="6995160" y="4919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the MLP</a:t>
            </a:r>
            <a:endParaRPr lang="en-US" sz="1600" dirty="0"/>
          </a:p>
        </p:txBody>
      </p:sp>
      <p:sp>
        <p:nvSpPr>
          <p:cNvPr id="37" name="text_127"/>
          <p:cNvSpPr txBox="1"/>
          <p:nvPr/>
        </p:nvSpPr>
        <p:spPr>
          <a:xfrm>
            <a:off x="6995160" y="526694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holds one vector of 64 numbers that summarises the whole query.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1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MLP: turning all signals into one estimate</a:t>
            </a:r>
            <a:endParaRPr lang="en-US" sz="3200" dirty="0"/>
          </a:p>
        </p:txBody>
      </p:sp>
      <p:sp>
        <p:nvSpPr>
          <p:cNvPr id="3" name="card_128"/>
          <p:cNvSpPr/>
          <p:nvPr/>
        </p:nvSpPr>
        <p:spPr>
          <a:xfrm>
            <a:off x="548640" y="141732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ADADD"/>
            </a:solidFill>
            <a:prstDash val="solid"/>
          </a:ln>
        </p:spPr>
      </p:sp>
      <p:sp>
        <p:nvSpPr>
          <p:cNvPr id="4" name="dot_129"/>
          <p:cNvSpPr/>
          <p:nvPr/>
        </p:nvSpPr>
        <p:spPr>
          <a:xfrm>
            <a:off x="731520" y="1691640"/>
            <a:ext cx="182880" cy="182880"/>
          </a:xfrm>
          <a:prstGeom prst="ellipse">
            <a:avLst/>
          </a:prstGeom>
          <a:solidFill>
            <a:srgbClr val="B01E4F"/>
          </a:solidFill>
          <a:ln/>
        </p:spPr>
      </p:sp>
      <p:sp>
        <p:nvSpPr>
          <p:cNvPr id="5" name="text_130"/>
          <p:cNvSpPr txBox="1"/>
          <p:nvPr/>
        </p:nvSpPr>
        <p:spPr>
          <a:xfrm>
            <a:off x="1051560" y="15087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TreeLSTM query vector</a:t>
            </a:r>
            <a:endParaRPr lang="en-US" sz="1400" dirty="0"/>
          </a:p>
        </p:txBody>
      </p:sp>
      <p:sp>
        <p:nvSpPr>
          <p:cNvPr id="6" name="text_131"/>
          <p:cNvSpPr txBox="1"/>
          <p:nvPr/>
        </p:nvSpPr>
        <p:spPr>
          <a:xfrm>
            <a:off x="1051560" y="18013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numbers</a:t>
            </a:r>
            <a:endParaRPr lang="en-US" sz="1200" dirty="0"/>
          </a:p>
        </p:txBody>
      </p:sp>
      <p:sp>
        <p:nvSpPr>
          <p:cNvPr id="7" name="arrow_132"/>
          <p:cNvSpPr/>
          <p:nvPr/>
        </p:nvSpPr>
        <p:spPr>
          <a:xfrm>
            <a:off x="3886200" y="1783080"/>
            <a:ext cx="548640" cy="1856232"/>
          </a:xfrm>
          <a:prstGeom prst="line">
            <a:avLst/>
          </a:prstGeom>
          <a:noFill/>
          <a:ln w="19050">
            <a:solidFill>
              <a:srgbClr val="CDBFC0"/>
            </a:solidFill>
            <a:prstDash val="solid"/>
            <a:tailEnd type="triangle"/>
          </a:ln>
        </p:spPr>
      </p:sp>
      <p:sp>
        <p:nvSpPr>
          <p:cNvPr id="8" name="card_133"/>
          <p:cNvSpPr/>
          <p:nvPr/>
        </p:nvSpPr>
        <p:spPr>
          <a:xfrm>
            <a:off x="548640" y="2313432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ADADD"/>
            </a:solidFill>
            <a:prstDash val="solid"/>
          </a:ln>
        </p:spPr>
      </p:sp>
      <p:sp>
        <p:nvSpPr>
          <p:cNvPr id="9" name="dot_134"/>
          <p:cNvSpPr/>
          <p:nvPr/>
        </p:nvSpPr>
        <p:spPr>
          <a:xfrm>
            <a:off x="731520" y="2587752"/>
            <a:ext cx="182880" cy="182880"/>
          </a:xfrm>
          <a:prstGeom prst="ellipse">
            <a:avLst/>
          </a:prstGeom>
          <a:solidFill>
            <a:srgbClr val="3D72B0"/>
          </a:solidFill>
          <a:ln/>
        </p:spPr>
      </p:sp>
      <p:sp>
        <p:nvSpPr>
          <p:cNvPr id="10" name="text_135"/>
          <p:cNvSpPr txBox="1"/>
          <p:nvPr/>
        </p:nvSpPr>
        <p:spPr>
          <a:xfrm>
            <a:off x="1051560" y="24048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</a:t>
            </a:r>
            <a:endParaRPr lang="en-US" sz="1400" dirty="0"/>
          </a:p>
        </p:txBody>
      </p:sp>
      <p:sp>
        <p:nvSpPr>
          <p:cNvPr id="11" name="text_136"/>
          <p:cNvSpPr txBox="1"/>
          <p:nvPr/>
        </p:nvSpPr>
        <p:spPr>
          <a:xfrm>
            <a:off x="1051560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fraction kept by each table</a:t>
            </a:r>
            <a:endParaRPr lang="en-US" sz="1200" dirty="0"/>
          </a:p>
        </p:txBody>
      </p:sp>
      <p:sp>
        <p:nvSpPr>
          <p:cNvPr id="12" name="arrow_137"/>
          <p:cNvSpPr/>
          <p:nvPr/>
        </p:nvSpPr>
        <p:spPr>
          <a:xfrm>
            <a:off x="3886200" y="2679192"/>
            <a:ext cx="548640" cy="960120"/>
          </a:xfrm>
          <a:prstGeom prst="line">
            <a:avLst/>
          </a:prstGeom>
          <a:noFill/>
          <a:ln w="19050">
            <a:solidFill>
              <a:srgbClr val="CDBFC0"/>
            </a:solidFill>
            <a:prstDash val="solid"/>
            <a:tailEnd type="triangle"/>
          </a:ln>
        </p:spPr>
      </p:sp>
      <p:sp>
        <p:nvSpPr>
          <p:cNvPr id="13" name="card_138"/>
          <p:cNvSpPr/>
          <p:nvPr/>
        </p:nvSpPr>
        <p:spPr>
          <a:xfrm>
            <a:off x="548640" y="3209544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ADADD"/>
            </a:solidFill>
            <a:prstDash val="solid"/>
          </a:ln>
        </p:spPr>
      </p:sp>
      <p:sp>
        <p:nvSpPr>
          <p:cNvPr id="14" name="dot_139"/>
          <p:cNvSpPr/>
          <p:nvPr/>
        </p:nvSpPr>
        <p:spPr>
          <a:xfrm>
            <a:off x="731520" y="3483864"/>
            <a:ext cx="182880" cy="182880"/>
          </a:xfrm>
          <a:prstGeom prst="ellipse">
            <a:avLst/>
          </a:prstGeom>
          <a:solidFill>
            <a:srgbClr val="D08C1E"/>
          </a:solidFill>
          <a:ln/>
        </p:spPr>
      </p:sp>
      <p:sp>
        <p:nvSpPr>
          <p:cNvPr id="15" name="text_140"/>
          <p:cNvSpPr txBox="1"/>
          <p:nvPr/>
        </p:nvSpPr>
        <p:spPr>
          <a:xfrm>
            <a:off x="1051560" y="33009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FactorJoin estimate</a:t>
            </a:r>
            <a:endParaRPr lang="en-US" sz="1400" dirty="0"/>
          </a:p>
        </p:txBody>
      </p:sp>
      <p:sp>
        <p:nvSpPr>
          <p:cNvPr id="16" name="text_141"/>
          <p:cNvSpPr txBox="1"/>
          <p:nvPr/>
        </p:nvSpPr>
        <p:spPr>
          <a:xfrm>
            <a:off x="1051560" y="3593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of its row count</a:t>
            </a:r>
            <a:endParaRPr lang="en-US" sz="1200" dirty="0"/>
          </a:p>
        </p:txBody>
      </p:sp>
      <p:sp>
        <p:nvSpPr>
          <p:cNvPr id="17" name="arrow_142"/>
          <p:cNvSpPr/>
          <p:nvPr/>
        </p:nvSpPr>
        <p:spPr>
          <a:xfrm>
            <a:off x="3886200" y="3575304"/>
            <a:ext cx="548640" cy="64008"/>
          </a:xfrm>
          <a:prstGeom prst="line">
            <a:avLst/>
          </a:prstGeom>
          <a:noFill/>
          <a:ln w="19050">
            <a:solidFill>
              <a:srgbClr val="CDBFC0"/>
            </a:solidFill>
            <a:prstDash val="solid"/>
            <a:tailEnd type="triangle"/>
          </a:ln>
        </p:spPr>
      </p:sp>
      <p:sp>
        <p:nvSpPr>
          <p:cNvPr id="18" name="card_143"/>
          <p:cNvSpPr/>
          <p:nvPr/>
        </p:nvSpPr>
        <p:spPr>
          <a:xfrm>
            <a:off x="548640" y="4105656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ADADD"/>
            </a:solidFill>
            <a:prstDash val="solid"/>
          </a:ln>
        </p:spPr>
      </p:sp>
      <p:sp>
        <p:nvSpPr>
          <p:cNvPr id="19" name="dot_144"/>
          <p:cNvSpPr/>
          <p:nvPr/>
        </p:nvSpPr>
        <p:spPr>
          <a:xfrm>
            <a:off x="731520" y="4379976"/>
            <a:ext cx="182880" cy="182880"/>
          </a:xfrm>
          <a:prstGeom prst="ellipse">
            <a:avLst/>
          </a:prstGeom>
          <a:solidFill>
            <a:srgbClr val="3D72B0"/>
          </a:solidFill>
          <a:ln/>
        </p:spPr>
      </p:sp>
      <p:sp>
        <p:nvSpPr>
          <p:cNvPr id="20" name="text_145"/>
          <p:cNvSpPr txBox="1"/>
          <p:nvPr/>
        </p:nvSpPr>
        <p:spPr>
          <a:xfrm>
            <a:off x="1051560" y="41970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estimate</a:t>
            </a:r>
            <a:endParaRPr lang="en-US" sz="1400" dirty="0"/>
          </a:p>
        </p:txBody>
      </p:sp>
      <p:sp>
        <p:nvSpPr>
          <p:cNvPr id="21" name="text_146"/>
          <p:cNvSpPr txBox="1"/>
          <p:nvPr/>
        </p:nvSpPr>
        <p:spPr>
          <a:xfrm>
            <a:off x="1051560" y="448970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of its row count</a:t>
            </a:r>
            <a:endParaRPr lang="en-US" sz="1200" dirty="0"/>
          </a:p>
        </p:txBody>
      </p:sp>
      <p:sp>
        <p:nvSpPr>
          <p:cNvPr id="22" name="arrow_147"/>
          <p:cNvSpPr/>
          <p:nvPr/>
        </p:nvSpPr>
        <p:spPr>
          <a:xfrm flipV="1">
            <a:off x="3886200" y="3639312"/>
            <a:ext cx="548640" cy="832104"/>
          </a:xfrm>
          <a:prstGeom prst="line">
            <a:avLst/>
          </a:prstGeom>
          <a:noFill/>
          <a:ln w="19050">
            <a:solidFill>
              <a:srgbClr val="CDBFC0"/>
            </a:solidFill>
            <a:prstDash val="solid"/>
            <a:tailEnd type="triangle"/>
          </a:ln>
        </p:spPr>
      </p:sp>
      <p:sp>
        <p:nvSpPr>
          <p:cNvPr id="23" name="card_148"/>
          <p:cNvSpPr/>
          <p:nvPr/>
        </p:nvSpPr>
        <p:spPr>
          <a:xfrm>
            <a:off x="548640" y="5001768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ADADD"/>
            </a:solidFill>
            <a:prstDash val="solid"/>
          </a:ln>
        </p:spPr>
      </p:sp>
      <p:sp>
        <p:nvSpPr>
          <p:cNvPr id="24" name="dot_149"/>
          <p:cNvSpPr/>
          <p:nvPr/>
        </p:nvSpPr>
        <p:spPr>
          <a:xfrm>
            <a:off x="731520" y="5276088"/>
            <a:ext cx="182880" cy="182880"/>
          </a:xfrm>
          <a:prstGeom prst="ellipse">
            <a:avLst/>
          </a:prstGeom>
          <a:solidFill>
            <a:srgbClr val="7D7174"/>
          </a:solidFill>
          <a:ln/>
        </p:spPr>
      </p:sp>
      <p:sp>
        <p:nvSpPr>
          <p:cNvPr id="25" name="text_150"/>
          <p:cNvSpPr txBox="1"/>
          <p:nvPr/>
        </p:nvSpPr>
        <p:spPr>
          <a:xfrm>
            <a:off x="1051560" y="50932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shape</a:t>
            </a:r>
            <a:endParaRPr lang="en-US" sz="1400" dirty="0"/>
          </a:p>
        </p:txBody>
      </p:sp>
      <p:sp>
        <p:nvSpPr>
          <p:cNvPr id="26" name="text_151"/>
          <p:cNvSpPr txBox="1"/>
          <p:nvPr/>
        </p:nvSpPr>
        <p:spPr>
          <a:xfrm>
            <a:off x="1051560" y="538581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tables, conditions</a:t>
            </a:r>
            <a:endParaRPr lang="en-US" sz="1200" dirty="0"/>
          </a:p>
        </p:txBody>
      </p:sp>
      <p:sp>
        <p:nvSpPr>
          <p:cNvPr id="27" name="arrow_152"/>
          <p:cNvSpPr/>
          <p:nvPr/>
        </p:nvSpPr>
        <p:spPr>
          <a:xfrm flipV="1">
            <a:off x="3886200" y="3639312"/>
            <a:ext cx="548640" cy="1728216"/>
          </a:xfrm>
          <a:prstGeom prst="line">
            <a:avLst/>
          </a:prstGeom>
          <a:noFill/>
          <a:ln w="19050">
            <a:solidFill>
              <a:srgbClr val="CDBFC0"/>
            </a:solidFill>
            <a:prstDash val="solid"/>
            <a:tailEnd type="triangle"/>
          </a:ln>
        </p:spPr>
      </p:sp>
      <p:sp>
        <p:nvSpPr>
          <p:cNvPr id="28" name="card_153"/>
          <p:cNvSpPr/>
          <p:nvPr/>
        </p:nvSpPr>
        <p:spPr>
          <a:xfrm>
            <a:off x="4480560" y="2194560"/>
            <a:ext cx="3017520" cy="2880360"/>
          </a:xfrm>
          <a:prstGeom prst="roundRect">
            <a:avLst>
              <a:gd name="adj" fmla="val 3810"/>
            </a:avLst>
          </a:prstGeom>
          <a:solidFill>
            <a:srgbClr val="8A1538"/>
          </a:solidFill>
          <a:ln/>
        </p:spPr>
      </p:sp>
      <p:sp>
        <p:nvSpPr>
          <p:cNvPr id="29" name="text_154"/>
          <p:cNvSpPr txBox="1"/>
          <p:nvPr/>
        </p:nvSpPr>
        <p:spPr>
          <a:xfrm>
            <a:off x="466344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2400" dirty="0"/>
          </a:p>
        </p:txBody>
      </p:sp>
      <p:sp>
        <p:nvSpPr>
          <p:cNvPr id="30" name="text_155"/>
          <p:cNvSpPr txBox="1"/>
          <p:nvPr/>
        </p:nvSpPr>
        <p:spPr>
          <a:xfrm>
            <a:off x="4663440" y="292608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hidden layers × 256 units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 activation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0.10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2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loss on log(rows)</a:t>
            </a:r>
            <a:endParaRPr lang="en-US" sz="1400" dirty="0"/>
          </a:p>
        </p:txBody>
      </p:sp>
      <p:sp>
        <p:nvSpPr>
          <p:cNvPr id="31" name="arrow_156"/>
          <p:cNvSpPr/>
          <p:nvPr/>
        </p:nvSpPr>
        <p:spPr>
          <a:xfrm>
            <a:off x="7543800" y="3639312"/>
            <a:ext cx="548640" cy="914"/>
          </a:xfrm>
          <a:prstGeom prst="line">
            <a:avLst/>
          </a:prstGeom>
          <a:noFill/>
          <a:ln w="19050">
            <a:solidFill>
              <a:srgbClr val="8A1538"/>
            </a:solidFill>
            <a:prstDash val="solid"/>
            <a:tailEnd type="triangle"/>
          </a:ln>
        </p:spPr>
      </p:sp>
      <p:sp>
        <p:nvSpPr>
          <p:cNvPr id="32" name="card_157"/>
          <p:cNvSpPr/>
          <p:nvPr/>
        </p:nvSpPr>
        <p:spPr>
          <a:xfrm>
            <a:off x="8138160" y="2194560"/>
            <a:ext cx="3474720" cy="2880360"/>
          </a:xfrm>
          <a:prstGeom prst="roundRect">
            <a:avLst>
              <a:gd name="adj" fmla="val 3810"/>
            </a:avLst>
          </a:prstGeom>
          <a:solidFill>
            <a:srgbClr val="F8EFF2"/>
          </a:solidFill>
          <a:ln/>
        </p:spPr>
      </p:sp>
      <p:sp>
        <p:nvSpPr>
          <p:cNvPr id="33" name="text_158"/>
          <p:cNvSpPr txBox="1"/>
          <p:nvPr/>
        </p:nvSpPr>
        <p:spPr>
          <a:xfrm>
            <a:off x="836676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4" name="text_159"/>
          <p:cNvSpPr txBox="1"/>
          <p:nvPr/>
        </p:nvSpPr>
        <p:spPr>
          <a:xfrm>
            <a:off x="836676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= FactorJoin × eʳ</a:t>
            </a:r>
            <a:endParaRPr lang="en-US" sz="2000" dirty="0"/>
          </a:p>
        </p:txBody>
      </p:sp>
      <p:sp>
        <p:nvSpPr>
          <p:cNvPr id="35" name="text_160"/>
          <p:cNvSpPr txBox="1"/>
          <p:nvPr/>
        </p:nvSpPr>
        <p:spPr>
          <a:xfrm>
            <a:off x="8366760" y="33832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MLP outputs one number r: how much to scale FactorJoin’s guess up or down. It starts at r = 0 (trust FactorJoin), so it can only learn to improve on it.</a:t>
            </a:r>
            <a:endParaRPr lang="en-US" sz="1400" dirty="0"/>
          </a:p>
        </p:txBody>
      </p:sp>
      <p:sp>
        <p:nvSpPr>
          <p:cNvPr id="36" name="text_161"/>
          <p:cNvSpPr txBox="1"/>
          <p:nvPr/>
        </p:nvSpPr>
        <p:spPr>
          <a:xfrm>
            <a:off x="4480560" y="5349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FactorJoin gets corrected: it treats each join-key bin as uniform, so it misses links that cross tables (budget tier on projects ↔ approved amount on budgets). The TreeLSTM sees both conditions together.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1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200" dirty="0"/>
          </a:p>
        </p:txBody>
      </p:sp>
      <p:sp>
        <p:nvSpPr>
          <p:cNvPr id="3" name="card_162"/>
          <p:cNvSpPr/>
          <p:nvPr/>
        </p:nvSpPr>
        <p:spPr>
          <a:xfrm>
            <a:off x="548640" y="14630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8EFF2"/>
          </a:solidFill>
          <a:ln/>
        </p:spPr>
      </p:sp>
      <p:sp>
        <p:nvSpPr>
          <p:cNvPr id="4" name="text_163"/>
          <p:cNvSpPr txBox="1"/>
          <p:nvPr/>
        </p:nvSpPr>
        <p:spPr>
          <a:xfrm>
            <a:off x="82296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join counting</a:t>
            </a:r>
            <a:endParaRPr lang="en-US" sz="1600" dirty="0"/>
          </a:p>
        </p:txBody>
      </p:sp>
      <p:sp>
        <p:nvSpPr>
          <p:cNvPr id="5" name="text_164"/>
          <p:cNvSpPr txBox="1"/>
          <p:nvPr/>
        </p:nvSpPr>
        <p:spPr>
          <a:xfrm>
            <a:off x="822960" y="212140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 5-table join in milliseconds without building it. Each table passes per-key row totals to its parent (message passing on the join tree).</a:t>
            </a:r>
            <a:endParaRPr lang="en-US" sz="1300" dirty="0"/>
          </a:p>
        </p:txBody>
      </p:sp>
      <p:sp>
        <p:nvSpPr>
          <p:cNvPr id="6" name="card_165"/>
          <p:cNvSpPr/>
          <p:nvPr/>
        </p:nvSpPr>
        <p:spPr>
          <a:xfrm>
            <a:off x="4297680" y="14630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ADD"/>
            </a:solidFill>
            <a:prstDash val="solid"/>
          </a:ln>
        </p:spPr>
      </p:sp>
      <p:sp>
        <p:nvSpPr>
          <p:cNvPr id="7" name="text_166"/>
          <p:cNvSpPr txBox="1"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without a server</a:t>
            </a:r>
            <a:endParaRPr lang="en-US" sz="1600" dirty="0"/>
          </a:p>
        </p:txBody>
      </p:sp>
      <p:sp>
        <p:nvSpPr>
          <p:cNvPr id="8" name="text_167"/>
          <p:cNvSpPr txBox="1"/>
          <p:nvPr/>
        </p:nvSpPr>
        <p:spPr>
          <a:xfrm>
            <a:off x="4572000" y="212140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ANALYZE statistics (most-common values, 100-bucket histograms) and PostgreSQL’s selectivity rules, including eqjoinsel for joins.</a:t>
            </a:r>
            <a:endParaRPr lang="en-US" sz="1300" dirty="0"/>
          </a:p>
        </p:txBody>
      </p:sp>
      <p:sp>
        <p:nvSpPr>
          <p:cNvPr id="9" name="card_168"/>
          <p:cNvSpPr/>
          <p:nvPr/>
        </p:nvSpPr>
        <p:spPr>
          <a:xfrm>
            <a:off x="8046720" y="14630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8EFF2"/>
          </a:solidFill>
          <a:ln/>
        </p:spPr>
      </p:sp>
      <p:sp>
        <p:nvSpPr>
          <p:cNvPr id="10" name="text_169"/>
          <p:cNvSpPr txBox="1"/>
          <p:nvPr/>
        </p:nvSpPr>
        <p:spPr>
          <a:xfrm>
            <a:off x="832104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600" dirty="0"/>
          </a:p>
        </p:txBody>
      </p:sp>
      <p:sp>
        <p:nvSpPr>
          <p:cNvPr id="11" name="text_170"/>
          <p:cNvSpPr txBox="1"/>
          <p:nvPr/>
        </p:nvSpPr>
        <p:spPr>
          <a:xfrm>
            <a:off x="8321040" y="212140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TPE search, 64 trials (26 stopped early by median pruning). Tuned: layers, width, dropout, learning rate, weight decay, batch size, loss, TreeLSTM size.</a:t>
            </a:r>
            <a:endParaRPr lang="en-US" sz="1300" dirty="0"/>
          </a:p>
        </p:txBody>
      </p:sp>
      <p:sp>
        <p:nvSpPr>
          <p:cNvPr id="12" name="card_171"/>
          <p:cNvSpPr/>
          <p:nvPr/>
        </p:nvSpPr>
        <p:spPr>
          <a:xfrm>
            <a:off x="548640" y="37033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ADD"/>
            </a:solidFill>
            <a:prstDash val="solid"/>
          </a:ln>
        </p:spPr>
      </p:sp>
      <p:sp>
        <p:nvSpPr>
          <p:cNvPr id="13" name="text_172"/>
          <p:cNvSpPr txBox="1"/>
          <p:nvPr/>
        </p:nvSpPr>
        <p:spPr>
          <a:xfrm>
            <a:off x="82296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Join-order check</a:t>
            </a:r>
            <a:endParaRPr lang="en-US" sz="1600" dirty="0"/>
          </a:p>
        </p:txBody>
      </p:sp>
      <p:sp>
        <p:nvSpPr>
          <p:cNvPr id="14" name="text_173"/>
          <p:cNvSpPr txBox="1"/>
          <p:nvPr/>
        </p:nvSpPr>
        <p:spPr>
          <a:xfrm>
            <a:off x="822960" y="436168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dynamic-programming optimizer picks the join order from each estimator’s counts. We score that plan by the true number of intermediate rows.</a:t>
            </a:r>
            <a:endParaRPr lang="en-US" sz="1300" dirty="0"/>
          </a:p>
        </p:txBody>
      </p:sp>
      <p:sp>
        <p:nvSpPr>
          <p:cNvPr id="15" name="card_174"/>
          <p:cNvSpPr/>
          <p:nvPr/>
        </p:nvSpPr>
        <p:spPr>
          <a:xfrm>
            <a:off x="4297680" y="37033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8EFF2"/>
          </a:solidFill>
          <a:ln/>
        </p:spPr>
      </p:sp>
      <p:sp>
        <p:nvSpPr>
          <p:cNvPr id="16" name="text_175"/>
          <p:cNvSpPr txBox="1"/>
          <p:nvPr/>
        </p:nvSpPr>
        <p:spPr>
          <a:xfrm>
            <a:off x="457200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inside the network</a:t>
            </a:r>
            <a:endParaRPr lang="en-US" sz="1600" dirty="0"/>
          </a:p>
        </p:txBody>
      </p:sp>
      <p:sp>
        <p:nvSpPr>
          <p:cNvPr id="17" name="text_176"/>
          <p:cNvSpPr txBox="1"/>
          <p:nvPr/>
        </p:nvSpPr>
        <p:spPr>
          <a:xfrm>
            <a:off x="4572000" y="436168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probes on hidden states at each tree level, a neuron atlas (which conditions or tables each unit fires on), and integrated gradients.</a:t>
            </a:r>
            <a:endParaRPr lang="en-US" sz="1300" dirty="0"/>
          </a:p>
        </p:txBody>
      </p:sp>
      <p:sp>
        <p:nvSpPr>
          <p:cNvPr id="18" name="card_177"/>
          <p:cNvSpPr/>
          <p:nvPr/>
        </p:nvSpPr>
        <p:spPr>
          <a:xfrm>
            <a:off x="8046720" y="37033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ADD"/>
            </a:solidFill>
            <a:prstDash val="solid"/>
          </a:ln>
        </p:spPr>
      </p:sp>
      <p:sp>
        <p:nvSpPr>
          <p:cNvPr id="19" name="text_178"/>
          <p:cNvSpPr txBox="1"/>
          <p:nvPr/>
        </p:nvSpPr>
        <p:spPr>
          <a:xfrm>
            <a:off x="832104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600" dirty="0"/>
          </a:p>
        </p:txBody>
      </p:sp>
      <p:sp>
        <p:nvSpPr>
          <p:cNvPr id="20" name="text_179"/>
          <p:cNvSpPr txBox="1"/>
          <p:nvPr/>
        </p:nvSpPr>
        <p:spPr>
          <a:xfrm>
            <a:off x="8321040" y="436168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queries over 1–5 tables, 7 join keys, operators =, &lt;&gt;, &lt;, &gt;, BETWEEN, IN. Labels come from exact execution.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1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1,202 unseen queries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_180"/>
          <p:cNvSpPr txBox="1"/>
          <p:nvPr/>
        </p:nvSpPr>
        <p:spPr>
          <a:xfrm>
            <a:off x="548640" y="5669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7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error is ~1.0× for everyone. The difference is in the bad tail, which is what wrecks query plans.</a:t>
            </a:r>
            <a:endParaRPr lang="en-US" sz="1200" dirty="0"/>
          </a:p>
        </p:txBody>
      </p:sp>
      <p:sp>
        <p:nvSpPr>
          <p:cNvPr id="5" name="text_181"/>
          <p:cNvSpPr txBox="1"/>
          <p:nvPr/>
        </p:nvSpPr>
        <p:spPr>
          <a:xfrm>
            <a:off x="685800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41.8×</a:t>
            </a:r>
            <a:endParaRPr lang="en-US" sz="3400" dirty="0"/>
          </a:p>
        </p:txBody>
      </p:sp>
      <p:sp>
        <p:nvSpPr>
          <p:cNvPr id="6" name="text_182"/>
          <p:cNvSpPr txBox="1"/>
          <p:nvPr/>
        </p:nvSpPr>
        <p:spPr>
          <a:xfrm>
            <a:off x="8915400" y="1444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error (PostgreSQL 59,392×)</a:t>
            </a:r>
            <a:endParaRPr lang="en-US" sz="1300" dirty="0"/>
          </a:p>
        </p:txBody>
      </p:sp>
      <p:sp>
        <p:nvSpPr>
          <p:cNvPr id="7" name="text_183"/>
          <p:cNvSpPr txBox="1"/>
          <p:nvPr/>
        </p:nvSpPr>
        <p:spPr>
          <a:xfrm>
            <a:off x="6858000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95.5%</a:t>
            </a:r>
            <a:endParaRPr lang="en-US" sz="3400" dirty="0"/>
          </a:p>
        </p:txBody>
      </p:sp>
      <p:sp>
        <p:nvSpPr>
          <p:cNvPr id="8" name="text_184"/>
          <p:cNvSpPr txBox="1"/>
          <p:nvPr/>
        </p:nvSpPr>
        <p:spPr>
          <a:xfrm>
            <a:off x="8915400" y="2587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within 2× of truth (PostgreSQL 86.7%)</a:t>
            </a:r>
            <a:endParaRPr lang="en-US" sz="1300" dirty="0"/>
          </a:p>
        </p:txBody>
      </p:sp>
      <p:sp>
        <p:nvSpPr>
          <p:cNvPr id="9" name="text_185"/>
          <p:cNvSpPr txBox="1"/>
          <p:nvPr/>
        </p:nvSpPr>
        <p:spPr>
          <a:xfrm>
            <a:off x="685800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95.9%</a:t>
            </a:r>
            <a:endParaRPr lang="en-US" sz="3400" dirty="0"/>
          </a:p>
        </p:txBody>
      </p:sp>
      <p:sp>
        <p:nvSpPr>
          <p:cNvPr id="10" name="text_186"/>
          <p:cNvSpPr txBox="1"/>
          <p:nvPr/>
        </p:nvSpPr>
        <p:spPr>
          <a:xfrm>
            <a:off x="8915400" y="3730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join orders on 3+ tables (PostgreSQL 94.3%, FactorJoin 96.9%)</a:t>
            </a:r>
            <a:endParaRPr lang="en-US" sz="1300" dirty="0"/>
          </a:p>
        </p:txBody>
      </p:sp>
      <p:sp>
        <p:nvSpPr>
          <p:cNvPr id="11" name="text_187"/>
          <p:cNvSpPr txBox="1"/>
          <p:nvPr/>
        </p:nvSpPr>
        <p:spPr>
          <a:xfrm>
            <a:off x="6858000" y="4800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5.60×</a:t>
            </a:r>
            <a:endParaRPr lang="en-US" sz="3400" dirty="0"/>
          </a:p>
        </p:txBody>
      </p:sp>
      <p:sp>
        <p:nvSpPr>
          <p:cNvPr id="12" name="text_188"/>
          <p:cNvSpPr txBox="1"/>
          <p:nvPr/>
        </p:nvSpPr>
        <p:spPr>
          <a:xfrm>
            <a:off x="8915400" y="4873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error on correlated filters (PostgreSQL 987×)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1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dinality Lab">
  <a:themeElements>
    <a:clrScheme name="Cardinality Lab">
      <a:dk1>
        <a:srgbClr val="261A1D"/>
      </a:dk1>
      <a:lt1>
        <a:srgbClr val="FFFFFF"/>
      </a:lt1>
      <a:dk2>
        <a:srgbClr val="8A1538"/>
      </a:dk2>
      <a:lt2>
        <a:srgbClr val="F8EFF2"/>
      </a:lt2>
      <a:accent1>
        <a:srgbClr val="8A1538"/>
      </a:accent1>
      <a:accent2>
        <a:srgbClr val="3D72B0"/>
      </a:accent2>
      <a:accent3>
        <a:srgbClr val="D08C1E"/>
      </a:accent3>
      <a:accent4>
        <a:srgbClr val="2E9C80"/>
      </a:accent4>
      <a:accent5>
        <a:srgbClr val="B01E4F"/>
      </a:accent5>
      <a:accent6>
        <a:srgbClr val="7D7174"/>
      </a:accent6>
      <a:hlink>
        <a:srgbClr val="8A1538"/>
      </a:hlink>
      <a:folHlink>
        <a:srgbClr val="6B0F2B"/>
      </a:folHlink>
    </a:clrScheme>
    <a:fontScheme name="Cardinality 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Learned Cardinality Estimation - AIE-A Group 17</dc:title>
  <dc:subject>PptxGenJS Presentation</dc:subject>
  <dc:creator>Bhuvaneswaran S, Sriram S</dc:creator>
  <cp:lastModifiedBy>Bhuvaneswaran S, Sriram S</cp:lastModifiedBy>
  <cp:revision>1</cp:revision>
  <dcterms:created xsi:type="dcterms:W3CDTF">2026-10-16T16:05:03Z</dcterms:created>
  <dcterms:modified xsi:type="dcterms:W3CDTF">2026-10-16T16:05:04Z</dcterms:modified>
</cp:coreProperties>
</file>